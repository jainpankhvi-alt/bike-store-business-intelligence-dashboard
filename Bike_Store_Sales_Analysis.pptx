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188720"/>
            <a:ext cx="3200400" cy="3200400"/>
          </a:xfrm>
          <a:prstGeom prst="ellipse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463040"/>
            <a:ext cx="2651760" cy="2651760"/>
          </a:xfrm>
          <a:prstGeom prst="ellipse">
            <a:avLst/>
          </a:prstGeom>
          <a:noFill/>
          <a:ln w="25400">
            <a:solidFill>
              <a:srgbClr val="E8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ECUTIVE_SALE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274320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🚲  BIKE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6A0A"/>
                </a:solidFill>
              </a:rPr>
              <a:t>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A complete Business Intelligence solution covering
Sales Performance · Employee Productivity · Inventory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5486400" cy="4572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📍  United States  |  3 Stores  |  9 Brands  |  7 Categories  |  2016–2018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ACC"/>
                </a:solidFill>
              </a:rPr>
              <a:t>Tools: Excel · Power Query · Power Pivot · Pivot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10972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Business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Analyze sales performance, employee productivity, and inventory management across all stores and time periods.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10972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</a:rPr>
              <a:t>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060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9 relational tables · 1,615 Orders · 4,722 Order Items · 321 Products · 1,445 Customers · 10 Staff · 3 Stores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Tools &amp;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</a:rPr>
              <a:t>Microsoft Excel · Power Query · Power Pivot · Pivot Tables · Pivot Charts · Slicers · Data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MODEL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🧹  Data Cleaning &amp;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8872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84708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1737360"/>
            <a:ext cx="43891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84708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</a:rPr>
              <a:t>Removed PII fields · Standardized state names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18872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6243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2514600"/>
            <a:ext cx="43891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6243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</a:rPr>
              <a:t>Combined names · Removed contact info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39"/>
            <a:ext cx="118872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3291839"/>
            <a:ext cx="43891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4015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</a:rPr>
              <a:t>Removed address/contact info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79"/>
            <a:ext cx="118872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178807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2768" y="4069079"/>
            <a:ext cx="43891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178807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63636"/>
                </a:solidFill>
              </a:rPr>
              <a:t>Deduplication · Key validation · Date types · State abbreviations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⚙️  Feature Engineering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1901952"/>
            <a:ext cx="228600" cy="228600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Gross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Quantity × List Price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2615184"/>
            <a:ext cx="228600" cy="228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45059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Discount 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505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Gross Sales × Discount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328416"/>
            <a:ext cx="228600" cy="228600"/>
          </a:xfrm>
          <a:prstGeom prst="ellipse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1638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Revenue (KPI)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1638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Gross Sales − Discount Amount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041648"/>
            <a:ext cx="228600" cy="228600"/>
          </a:xfrm>
          <a:prstGeom prst="ellipse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8770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Delivery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8770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Shipped Date − Order Date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4754879"/>
            <a:ext cx="228600" cy="228600"/>
          </a:xfrm>
          <a:prstGeom prst="ellipse">
            <a:avLst/>
          </a:prstGeom>
          <a:solidFill>
            <a:srgbClr val="C53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590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Delivery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590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Early / On-Time / Late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5468112"/>
            <a:ext cx="228600" cy="228600"/>
          </a:xfrm>
          <a:prstGeom prst="ellipse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303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Date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Month · Year ·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📊  EXECUTIVE SALES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06040" cy="914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$7.69M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06040" cy="914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Gross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$8.58M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2606040" cy="914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Brand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$7.69M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280160"/>
            <a:ext cx="2606040" cy="9144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Top Brand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59.86%</a:t>
            </a:r>
          </a:p>
        </p:txBody>
      </p:sp>
      <p:pic>
        <p:nvPicPr>
          <p:cNvPr id="21" name="Picture 20" descr="EXECUTIVE_SALE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11612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SALES ANALYSIS –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09728" cy="150876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356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0A"/>
                </a:solidFill>
              </a:rPr>
              <a:t>TOP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Trek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Generated $4.60M — the highest revenue brand, commanding ~60% of total brand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109728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356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</a:rPr>
              <a:t>TOP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09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Cruisers Bicycles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305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Led all categories with 959 units ordered, followed by Mountain Bikes (866 units).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109728" cy="1508760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19653"/>
                </a:solidFill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Santa Cruz Bikes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22191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Contributed $5.22M in revenue — the highest performing store across all periods.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109728" cy="15087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2FC9"/>
                </a:solidFill>
              </a:rPr>
              <a:t>BEST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01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22191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Peak revenue year with $3.45M — 42% higher than 2016's $2.43M baseline.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109728" cy="1508760"/>
          </a:xfrm>
          <a:prstGeom prst="rect">
            <a:avLst/>
          </a:prstGeom>
          <a:solidFill>
            <a:srgbClr val="C53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18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3930"/>
                </a:solidFill>
              </a:rPr>
              <a:t>TOP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093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April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138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Highest monthly revenue at $1.21M, driven by seasonal demand surge.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669280" cy="1508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109728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818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TOP 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93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4E"/>
                </a:solidFill>
              </a:rPr>
              <a:t>Trek Slash 8 27.5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5138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Highest single-product revenue contributor at $0.56M.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👤  EMPLOYEE PERFORMANCE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06040" cy="91440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Total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1,615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06040" cy="91440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Units 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7,078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2606040" cy="91440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Total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1,445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280160"/>
            <a:ext cx="2606040" cy="91440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Store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1,615</a:t>
            </a:r>
          </a:p>
        </p:txBody>
      </p:sp>
      <p:pic>
        <p:nvPicPr>
          <p:cNvPr id="21" name="Picture 20" descr="EMPLOYEE_PERFORMA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11612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EMPLOYEE PERFORMANCE –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🏆  Top Employee Leaderboard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19072"/>
            <a:ext cx="6858000" cy="4114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Units Sold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76272"/>
            <a:ext cx="685800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4027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🥇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402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Marcelene Boyer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2402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553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2,419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24027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$2.62M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79191"/>
            <a:ext cx="6858000" cy="4572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74319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🥈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4319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Venita Daniel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274319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540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4319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2,360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74319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$2.59M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82112"/>
            <a:ext cx="6858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2461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🥉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Genna Serrano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3246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46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831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2461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$0.85M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85032"/>
            <a:ext cx="6858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7490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749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Mireya Copeland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3749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164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49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685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3749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$0.75M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87952"/>
            <a:ext cx="6858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2519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251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Kali Vargas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79" y="4251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51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412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4251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$0.46M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690872"/>
            <a:ext cx="6858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7548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754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Layla Terrell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79" y="4754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754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63636"/>
                </a:solidFill>
              </a:rPr>
              <a:t>371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7548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53"/>
                </a:solidFill>
              </a:rPr>
              <a:t>$0.40M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12344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💡  Insights</a:t>
            </a:r>
          </a:p>
        </p:txBody>
      </p:sp>
      <p:sp>
        <p:nvSpPr>
          <p:cNvPr id="49" name="Oval 48"/>
          <p:cNvSpPr/>
          <p:nvPr/>
        </p:nvSpPr>
        <p:spPr>
          <a:xfrm>
            <a:off x="7589520" y="1874519"/>
            <a:ext cx="201168" cy="201168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On-Time Delivery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205740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505 orders delivered on time — the highest delivery status.</a:t>
            </a:r>
          </a:p>
        </p:txBody>
      </p:sp>
      <p:sp>
        <p:nvSpPr>
          <p:cNvPr id="52" name="Oval 51"/>
          <p:cNvSpPr/>
          <p:nvPr/>
        </p:nvSpPr>
        <p:spPr>
          <a:xfrm>
            <a:off x="7589520" y="2971799"/>
            <a:ext cx="201168" cy="201168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283463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Baldwin Bikes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315467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Top store with 1,093 orders processed.</a:t>
            </a:r>
          </a:p>
        </p:txBody>
      </p:sp>
      <p:sp>
        <p:nvSpPr>
          <p:cNvPr id="55" name="Oval 54"/>
          <p:cNvSpPr/>
          <p:nvPr/>
        </p:nvSpPr>
        <p:spPr>
          <a:xfrm>
            <a:off x="7589520" y="4069080"/>
            <a:ext cx="201168" cy="201168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Employee of Year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4251959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Marcelene Boyer led both orders (553) and revenue ($2.62M).</a:t>
            </a:r>
          </a:p>
        </p:txBody>
      </p:sp>
      <p:sp>
        <p:nvSpPr>
          <p:cNvPr id="58" name="Oval 57"/>
          <p:cNvSpPr/>
          <p:nvPr/>
        </p:nvSpPr>
        <p:spPr>
          <a:xfrm>
            <a:off x="7589520" y="5166360"/>
            <a:ext cx="201168" cy="201168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9560" y="5029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Late Deliveries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3492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458 orders were late — an area for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🛒  PRODUCT PERFORMANCE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06040" cy="91440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Products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307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06040" cy="91440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Total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13,511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2606040" cy="91440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Store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$7.69M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80160"/>
            <a:ext cx="2606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280160"/>
            <a:ext cx="2606040" cy="91440"/>
          </a:xfrm>
          <a:prstGeom prst="rect">
            <a:avLst/>
          </a:prstGeom>
          <a:solidFill>
            <a:srgbClr val="1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Top Brand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099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4E"/>
                </a:solidFill>
              </a:rPr>
              <a:t>59.86%</a:t>
            </a:r>
          </a:p>
        </p:txBody>
      </p:sp>
      <p:pic>
        <p:nvPicPr>
          <p:cNvPr id="21" name="Picture 20" descr="PRODUCT_PERFORMA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11612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PRODUCT &amp; INVENTORY –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📦  Category Order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810512"/>
            <a:ext cx="4389120" cy="384048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Cruisers Bicycles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959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432304"/>
            <a:ext cx="396348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591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Mountain Bikes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5200" y="2359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866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054096"/>
            <a:ext cx="2906247" cy="384048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Children Bicycles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7967" y="298094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635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675887"/>
            <a:ext cx="2160234" cy="384048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02736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Comfort Bicycles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1954" y="360273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472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297680"/>
            <a:ext cx="1441681" cy="384048"/>
          </a:xfrm>
          <a:prstGeom prst="rect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245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Road Bikes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3401" y="42245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315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919472"/>
            <a:ext cx="1121308" cy="384048"/>
          </a:xfrm>
          <a:prstGeom prst="rect">
            <a:avLst/>
          </a:prstGeom>
          <a:solidFill>
            <a:srgbClr val="C53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Cyclocross Bikes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3028" y="48463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245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5541264"/>
            <a:ext cx="924507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46811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Electric Bikes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6227" y="54681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4E"/>
                </a:solidFill>
              </a:rPr>
              <a:t>202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🏅  Top Revenue Products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1901952"/>
            <a:ext cx="201168" cy="201168"/>
          </a:xfrm>
          <a:prstGeom prst="ellipse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Trek Slash 8 27.5 - 2016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1737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86A0A"/>
                </a:solidFill>
              </a:rPr>
              <a:t>$0.56M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2542032"/>
            <a:ext cx="201168" cy="2011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3774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Trek Conduit+ - 2016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3774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28090"/>
                </a:solidFill>
              </a:rPr>
              <a:t>$0.39M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3182112"/>
            <a:ext cx="201168" cy="201168"/>
          </a:xfrm>
          <a:prstGeom prst="ellipse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Trek Fuel EX 8 29 - 2016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017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19653"/>
                </a:solidFill>
              </a:rPr>
              <a:t>$0.37M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0" y="3822191"/>
            <a:ext cx="201168" cy="201168"/>
          </a:xfrm>
          <a:prstGeom prst="ellipse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36575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Surly Straggler 650b - 2016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65759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B2FC9"/>
                </a:solidFill>
              </a:rPr>
              <a:t>$0.23M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4462271"/>
            <a:ext cx="201168" cy="201168"/>
          </a:xfrm>
          <a:prstGeom prst="ellipse">
            <a:avLst/>
          </a:prstGeom>
          <a:solidFill>
            <a:srgbClr val="10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2976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Trek Domane SLR 6 - 2017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42976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04D8C"/>
                </a:solidFill>
              </a:rPr>
              <a:t>$0.21M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5102352"/>
            <a:ext cx="201168" cy="201168"/>
          </a:xfrm>
          <a:prstGeom prst="ellipse">
            <a:avLst/>
          </a:prstGeom>
          <a:solidFill>
            <a:srgbClr val="C53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3636"/>
                </a:solidFill>
              </a:rPr>
              <a:t>Surly Straggler - 2016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937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53930"/>
                </a:solidFill>
              </a:rPr>
              <a:t>$0.20M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5760720"/>
            <a:ext cx="5029200" cy="822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58704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4E"/>
                </a:solidFill>
              </a:rPr>
              <a:t>Year Revenue Trend:   2016: $2.43M   →   2017: $3.45M (peak)   →   2018: $1.81M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CONCLUSIONS &amp;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143000"/>
            <a:ext cx="6702552" cy="54864"/>
          </a:xfrm>
          <a:prstGeom prst="rect">
            <a:avLst/>
          </a:prstGeom>
          <a:solidFill>
            <a:srgbClr val="E8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0116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Trek dominates with ~60% share; Santa Cruz Bikes leads stores with $5.22M.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2017 was the peak year with $3.45M; April consistently the strongest month.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TOP TALENT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6576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Marcelene Boyer is Employee of the Year — highest orders (553) and revenue ($2.62M).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10896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6576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13,511 units in stock; Cruiser &amp; Mountain bikes hold the highest stock levels.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303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505 on-time + 482 early = strong fulfillment; 170 not-shipped orders need attention.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754880"/>
            <a:ext cx="5394960" cy="146304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937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0A"/>
                </a:solidFill>
              </a:rPr>
              <a:t>ACTION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03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Replenish low-stock products, reduce late deliveries, and invest in Trek/Cruiser segments.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BB"/>
                </a:solidFill>
              </a:rPr>
              <a:t>Thank you  ·  Bike Store Sales Analysis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